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8"/>
  </p:notesMasterIdLst>
  <p:handoutMasterIdLst>
    <p:handoutMasterId r:id="rId19"/>
  </p:handoutMasterIdLst>
  <p:sldIdLst>
    <p:sldId id="281" r:id="rId5"/>
    <p:sldId id="355" r:id="rId6"/>
    <p:sldId id="353" r:id="rId7"/>
    <p:sldId id="362" r:id="rId8"/>
    <p:sldId id="361" r:id="rId9"/>
    <p:sldId id="363" r:id="rId10"/>
    <p:sldId id="367" r:id="rId11"/>
    <p:sldId id="364" r:id="rId12"/>
    <p:sldId id="360" r:id="rId13"/>
    <p:sldId id="368" r:id="rId14"/>
    <p:sldId id="365" r:id="rId15"/>
    <p:sldId id="366" r:id="rId16"/>
    <p:sldId id="3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47F05-0506-494A-8060-3F395B947DF9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1E857-36B8-43F1-9D87-FE508167BC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C0A13-3F3D-45D4-B17C-1E0ACF36A6FB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AAAB6-A2C6-4A85-A3A1-98EFBA61C9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effectLst/>
              <a:latin typeface="Segoe UI" panose="020B0502040204020203" pitchFamily="34" charset="0"/>
            </a:endParaRPr>
          </a:p>
          <a:p>
            <a:r>
              <a:rPr lang="en-US" dirty="0"/>
              <a:t>ID=d924773e-9a16-4d6d-9803-8cb819e99682
Recipe=text_billboard
Type=TextOnly
Variant=0
FamilyID=AccentBoxWalbaum_Zero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36B1-75F6-458C-B388-8BC01E9857C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064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064" y="3355848"/>
            <a:ext cx="6272784" cy="2825496"/>
          </a:xfr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Microservice Refactoring – Performance &amp; Cost Optimization Initiative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Rahul Sharma</a:t>
            </a: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A85B-2AC6-4E29-B074-AB92F8FA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92" y="1078992"/>
            <a:ext cx="10871656" cy="1536192"/>
          </a:xfrm>
        </p:spPr>
        <p:txBody>
          <a:bodyPr/>
          <a:lstStyle/>
          <a:p>
            <a:r>
              <a:rPr lang="en-US" sz="5200" dirty="0">
                <a:latin typeface="+mj-lt"/>
              </a:rPr>
              <a:t>Agenda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AB0EB-0819-41F4-99E9-C02FA0DAF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192" y="3355848"/>
            <a:ext cx="10871656" cy="2825496"/>
          </a:xfrm>
        </p:spPr>
        <p:txBody>
          <a:bodyPr/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Objective: Improve performance, reduce cost, enhance maintainability.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Scope: Refactored existing microservice.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C423-85DE-48DB-8096-152D738B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25/02/2026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4E39E-D8A0-4428-97D8-FE545232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5045" y="6356350"/>
            <a:ext cx="6344815" cy="365125"/>
          </a:xfrm>
        </p:spPr>
        <p:txBody>
          <a:bodyPr/>
          <a:lstStyle/>
          <a:p>
            <a:r>
              <a:rPr lang="en-US" dirty="0"/>
              <a:t>Microservice Refactoring – Performance &amp; Cost Optimization Initiative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FA539-2DA6-4197-AA13-56E0C339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3A99-BC9D-4DC2-BE1B-9E2C93EDD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007" y="1595535"/>
            <a:ext cx="6758723" cy="774442"/>
          </a:xfrm>
        </p:spPr>
        <p:txBody>
          <a:bodyPr>
            <a:normAutofit/>
          </a:bodyPr>
          <a:lstStyle/>
          <a:p>
            <a:r>
              <a:rPr lang="en-IN" sz="2800" dirty="0"/>
              <a:t>Problem Statement (Before Refactoring)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D061C-023A-4DD9-8847-DD7718553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Challenges Identified: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A9B776A-A146-6E9F-004D-BDB921873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007" y="2369977"/>
            <a:ext cx="655345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eaLnBrk="0" fontAlgn="base" hangingPunct="0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High response time across endpoints</a:t>
            </a:r>
          </a:p>
          <a:p>
            <a:pPr marL="342900" indent="-342900" eaLnBrk="0" fontAlgn="base" hangingPunct="0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Duplicate downstream API calls</a:t>
            </a:r>
          </a:p>
          <a:p>
            <a:pPr marL="342900" indent="-342900" eaLnBrk="0" fontAlgn="base" hangingPunct="0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Tight coupling &amp; low reusability</a:t>
            </a:r>
          </a:p>
          <a:p>
            <a:pPr marL="342900" indent="-342900" eaLnBrk="0" fontAlgn="base" hangingPunct="0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Difficult to maintain and extend</a:t>
            </a:r>
          </a:p>
          <a:p>
            <a:pPr marL="342900" indent="-342900" eaLnBrk="0" fontAlgn="base" hangingPunct="0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Higher infrastructure utilization</a:t>
            </a:r>
          </a:p>
          <a:p>
            <a:pPr marL="342900" indent="-342900" eaLnBrk="0" fontAlgn="base" hangingPunct="0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Increased operational cost</a:t>
            </a:r>
          </a:p>
        </p:txBody>
      </p:sp>
    </p:spTree>
    <p:extLst>
      <p:ext uri="{BB962C8B-B14F-4D97-AF65-F5344CB8AC3E}">
        <p14:creationId xmlns:p14="http://schemas.microsoft.com/office/powerpoint/2010/main" val="2177544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3FABA-DC7A-8BAD-6376-ED45598C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1FE5-FC35-F5FB-031C-DDA112C0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007" y="1595535"/>
            <a:ext cx="6758723" cy="774442"/>
          </a:xfrm>
        </p:spPr>
        <p:txBody>
          <a:bodyPr>
            <a:normAutofit/>
          </a:bodyPr>
          <a:lstStyle/>
          <a:p>
            <a:r>
              <a:rPr lang="en-IN" sz="2800" dirty="0"/>
              <a:t>Cost Impact (Business View)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1EACB-F0D3-F3AD-4802-C4F28DBF1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Infrastructure Cost Reduction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16BBB3-4B80-AB37-51D3-DF393CAA7196}"/>
              </a:ext>
            </a:extLst>
          </p:cNvPr>
          <p:cNvSpPr txBox="1"/>
          <p:nvPr/>
        </p:nvSpPr>
        <p:spPr>
          <a:xfrm>
            <a:off x="1023007" y="2369977"/>
            <a:ext cx="69826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CPU consumption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memory usage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container scaling need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Fewer downstream API calls</a:t>
            </a:r>
          </a:p>
        </p:txBody>
      </p:sp>
    </p:spTree>
    <p:extLst>
      <p:ext uri="{BB962C8B-B14F-4D97-AF65-F5344CB8AC3E}">
        <p14:creationId xmlns:p14="http://schemas.microsoft.com/office/powerpoint/2010/main" val="1145629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37B85-1EA1-25A6-08D0-FD4EF8308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16318-078E-C427-244C-127691080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007" y="1595535"/>
            <a:ext cx="6758723" cy="774442"/>
          </a:xfrm>
        </p:spPr>
        <p:txBody>
          <a:bodyPr>
            <a:normAutofit/>
          </a:bodyPr>
          <a:lstStyle/>
          <a:p>
            <a:r>
              <a:rPr lang="en-IN" sz="2800" dirty="0"/>
              <a:t>Infrastructure Impact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BD460-147B-C284-3DE2-5B5CEFA80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Infrastructure Cost Reduction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8229A-B13B-9D12-60B9-1BC370718E74}"/>
              </a:ext>
            </a:extLst>
          </p:cNvPr>
          <p:cNvSpPr txBox="1"/>
          <p:nvPr/>
        </p:nvSpPr>
        <p:spPr>
          <a:xfrm>
            <a:off x="1023007" y="2369977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thread blocking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Redundant API calls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network traffic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latency under load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096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DE960-3BF1-EB7F-062F-F3396695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BE23-4F88-0B3F-65BD-79B259AB9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007" y="1595535"/>
            <a:ext cx="6758723" cy="774442"/>
          </a:xfrm>
        </p:spPr>
        <p:txBody>
          <a:bodyPr>
            <a:normAutofit/>
          </a:bodyPr>
          <a:lstStyle/>
          <a:p>
            <a:r>
              <a:rPr lang="en-IN" sz="2800" dirty="0"/>
              <a:t>Architectural Improvements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CA625-976B-5F47-BD99-B60E704DA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Applied Best Practices: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7D70FF-CDF3-72E6-7CE4-6A9EF40B02DB}"/>
              </a:ext>
            </a:extLst>
          </p:cNvPr>
          <p:cNvSpPr txBox="1"/>
          <p:nvPr/>
        </p:nvSpPr>
        <p:spPr>
          <a:xfrm>
            <a:off x="1023007" y="2369977"/>
            <a:ext cx="64134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SOLID Design Principles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Separation of Concerns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Reusable Components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Utility Abstractions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Tight Coupling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Dependency Management</a:t>
            </a:r>
          </a:p>
        </p:txBody>
      </p:sp>
    </p:spTree>
    <p:extLst>
      <p:ext uri="{BB962C8B-B14F-4D97-AF65-F5344CB8AC3E}">
        <p14:creationId xmlns:p14="http://schemas.microsoft.com/office/powerpoint/2010/main" val="340688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6560-24C7-23AC-6C61-8DB368903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8848-808D-53DB-EE0A-AB6272D1E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007" y="1595535"/>
            <a:ext cx="6758723" cy="774442"/>
          </a:xfrm>
        </p:spPr>
        <p:txBody>
          <a:bodyPr>
            <a:normAutofit/>
          </a:bodyPr>
          <a:lstStyle/>
          <a:p>
            <a:r>
              <a:rPr lang="en-IN" sz="2800" dirty="0"/>
              <a:t>Business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83A1A-C3F5-4D20-B346-2C73E494C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Applied Best Practices: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88032-3228-7A65-FEBA-5B51D333A3F8}"/>
              </a:ext>
            </a:extLst>
          </p:cNvPr>
          <p:cNvSpPr txBox="1"/>
          <p:nvPr/>
        </p:nvSpPr>
        <p:spPr>
          <a:xfrm>
            <a:off x="1023006" y="2369976"/>
            <a:ext cx="696399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Infra Cost Reduction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CPU time → lower infra bills.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Indirect Savings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more traffic without scaling infra.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SLA compliance.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customer experience → higher retention. </a:t>
            </a:r>
          </a:p>
        </p:txBody>
      </p:sp>
    </p:spTree>
    <p:extLst>
      <p:ext uri="{BB962C8B-B14F-4D97-AF65-F5344CB8AC3E}">
        <p14:creationId xmlns:p14="http://schemas.microsoft.com/office/powerpoint/2010/main" val="229355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F71CE-5D58-3664-A860-D44699C2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7AFA-706B-69ED-A6EA-CF337C62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007" y="1595535"/>
            <a:ext cx="6758723" cy="774442"/>
          </a:xfrm>
        </p:spPr>
        <p:txBody>
          <a:bodyPr>
            <a:normAutofit/>
          </a:bodyPr>
          <a:lstStyle/>
          <a:p>
            <a:r>
              <a:rPr lang="en-IN" sz="2800" dirty="0"/>
              <a:t>Long-Term Benefits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42AFD-8ACC-C603-015A-89BDB5143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Applied Best Practices: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89EEAF8-8A6B-EA4D-73D6-11EEFB4C1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85017"/>
              </p:ext>
            </p:extLst>
          </p:nvPr>
        </p:nvGraphicFramePr>
        <p:xfrm>
          <a:off x="1023007" y="2369977"/>
          <a:ext cx="7326086" cy="2560320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3663043">
                  <a:extLst>
                    <a:ext uri="{9D8B030D-6E8A-4147-A177-3AD203B41FA5}">
                      <a16:colId xmlns:a16="http://schemas.microsoft.com/office/drawing/2014/main" val="1690025889"/>
                    </a:ext>
                  </a:extLst>
                </a:gridCol>
                <a:gridCol w="3663043">
                  <a:extLst>
                    <a:ext uri="{9D8B030D-6E8A-4147-A177-3AD203B41FA5}">
                      <a16:colId xmlns:a16="http://schemas.microsoft.com/office/drawing/2014/main" val="2265015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479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Faster user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751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Reduced infra &amp; API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30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 feature delivery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23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Easier debugging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03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Future-ready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2731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Reduced production incidents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634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329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3B0FAD77-BC9B-4F5F-94D5-AA246F14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 (Before vs After)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247F24F-FEDE-4BA9-AF7F-3B64E28D080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8C90A15-9E96-4CA9-83EA-49AB7F1981A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FF618EE-5A1C-450F-9B69-114AD205798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A2D486C-4E9D-244F-D561-3F1482AC2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976853"/>
              </p:ext>
            </p:extLst>
          </p:nvPr>
        </p:nvGraphicFramePr>
        <p:xfrm>
          <a:off x="399660" y="2834967"/>
          <a:ext cx="10884036" cy="2063605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2721009">
                  <a:extLst>
                    <a:ext uri="{9D8B030D-6E8A-4147-A177-3AD203B41FA5}">
                      <a16:colId xmlns:a16="http://schemas.microsoft.com/office/drawing/2014/main" val="1767710232"/>
                    </a:ext>
                  </a:extLst>
                </a:gridCol>
                <a:gridCol w="2721009">
                  <a:extLst>
                    <a:ext uri="{9D8B030D-6E8A-4147-A177-3AD203B41FA5}">
                      <a16:colId xmlns:a16="http://schemas.microsoft.com/office/drawing/2014/main" val="1534623655"/>
                    </a:ext>
                  </a:extLst>
                </a:gridCol>
                <a:gridCol w="2721009">
                  <a:extLst>
                    <a:ext uri="{9D8B030D-6E8A-4147-A177-3AD203B41FA5}">
                      <a16:colId xmlns:a16="http://schemas.microsoft.com/office/drawing/2014/main" val="1925785105"/>
                    </a:ext>
                  </a:extLst>
                </a:gridCol>
                <a:gridCol w="2721009">
                  <a:extLst>
                    <a:ext uri="{9D8B030D-6E8A-4147-A177-3AD203B41FA5}">
                      <a16:colId xmlns:a16="http://schemas.microsoft.com/office/drawing/2014/main" val="217296081"/>
                    </a:ext>
                  </a:extLst>
                </a:gridCol>
              </a:tblGrid>
              <a:tr h="41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383400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Avg. Response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⬇ 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679007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Heavy Endpoints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⬇ 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243521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Duplicate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Reduced by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198973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CPU Utilization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98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130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4ED6-07B0-B81F-643C-DCDE693AE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B96E60BE-646E-7944-20FB-B66A712E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Savings (On‑Prem Kubernetes)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4AF9457-4A28-AE89-F65A-609696A82F40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797F549-0932-F383-2A88-96BCCF503D7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0445E5-F6B8-08F1-CEF2-8B771369950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3A45097-A4E7-41F5-073A-A86A0E211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37964"/>
              </p:ext>
            </p:extLst>
          </p:nvPr>
        </p:nvGraphicFramePr>
        <p:xfrm>
          <a:off x="1007706" y="2695008"/>
          <a:ext cx="10039740" cy="2063605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3346580">
                  <a:extLst>
                    <a:ext uri="{9D8B030D-6E8A-4147-A177-3AD203B41FA5}">
                      <a16:colId xmlns:a16="http://schemas.microsoft.com/office/drawing/2014/main" val="1767710232"/>
                    </a:ext>
                  </a:extLst>
                </a:gridCol>
                <a:gridCol w="3346580">
                  <a:extLst>
                    <a:ext uri="{9D8B030D-6E8A-4147-A177-3AD203B41FA5}">
                      <a16:colId xmlns:a16="http://schemas.microsoft.com/office/drawing/2014/main" val="1925785105"/>
                    </a:ext>
                  </a:extLst>
                </a:gridCol>
                <a:gridCol w="3346580">
                  <a:extLst>
                    <a:ext uri="{9D8B030D-6E8A-4147-A177-3AD203B41FA5}">
                      <a16:colId xmlns:a16="http://schemas.microsoft.com/office/drawing/2014/main" val="217296081"/>
                    </a:ext>
                  </a:extLst>
                </a:gridCol>
              </a:tblGrid>
              <a:tr h="41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Saving per 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Saving per 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383400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Balance(Cache Expired)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⬇ 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679007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Balance(Cached)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⬇ 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243521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Enroll</a:t>
                      </a:r>
                      <a:r>
                        <a:rPr lang="en-IN" dirty="0"/>
                        <a:t>(Cache Expired)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Reduced by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198973"/>
                  </a:ext>
                </a:extLst>
              </a:tr>
              <a:tr h="41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Enroll</a:t>
                      </a:r>
                      <a:r>
                        <a:rPr lang="en-IN" dirty="0"/>
                        <a:t>(Cached)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Efficient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98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859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A0879-EB73-7FA6-D11C-03EE937B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09C7D4D6-07E7-0701-D702-EEDAD882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Cost Savings Calculation (Balance Endpoint Example)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3C5E366-9A03-7CCD-5673-400CE78C781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C1B7D6A-3E62-44C9-8BCB-1605BFC4837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986FE23-C83C-7C2F-8268-8C8FF55AFD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21E2B-742C-0DB8-74B4-C3DA2F079AC3}"/>
              </a:ext>
            </a:extLst>
          </p:cNvPr>
          <p:cNvSpPr txBox="1"/>
          <p:nvPr/>
        </p:nvSpPr>
        <p:spPr>
          <a:xfrm>
            <a:off x="605930" y="2406383"/>
            <a:ext cx="111786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Before Refactor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4000 requests/hour × 2800 </a:t>
            </a:r>
            <a:r>
              <a:rPr lang="en-US" dirty="0" err="1"/>
              <a:t>ms</a:t>
            </a:r>
            <a:r>
              <a:rPr lang="en-US" dirty="0"/>
              <a:t> = 11,200,000 </a:t>
            </a:r>
            <a:r>
              <a:rPr lang="en-US" dirty="0" err="1"/>
              <a:t>ms</a:t>
            </a:r>
            <a:r>
              <a:rPr lang="en-US" dirty="0"/>
              <a:t> = </a:t>
            </a:r>
            <a:r>
              <a:rPr lang="en-US" b="1" dirty="0"/>
              <a:t>3.1 </a:t>
            </a:r>
            <a:r>
              <a:rPr lang="en-US" b="1" dirty="0" err="1"/>
              <a:t>hrs</a:t>
            </a:r>
            <a:r>
              <a:rPr lang="en-US" b="1" dirty="0"/>
              <a:t> CPU time/hour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After Refactor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4000 requests/hour × 1100 </a:t>
            </a:r>
            <a:r>
              <a:rPr lang="en-US" dirty="0" err="1"/>
              <a:t>ms</a:t>
            </a:r>
            <a:r>
              <a:rPr lang="en-US" dirty="0"/>
              <a:t> = 4,400,000 </a:t>
            </a:r>
            <a:r>
              <a:rPr lang="en-US" dirty="0" err="1"/>
              <a:t>ms</a:t>
            </a:r>
            <a:r>
              <a:rPr lang="en-US" dirty="0"/>
              <a:t> = </a:t>
            </a:r>
            <a:r>
              <a:rPr lang="en-US" b="1" dirty="0"/>
              <a:t>1.2 </a:t>
            </a:r>
            <a:r>
              <a:rPr lang="en-US" b="1" dirty="0" err="1"/>
              <a:t>hrs</a:t>
            </a:r>
            <a:r>
              <a:rPr lang="en-US" b="1" dirty="0"/>
              <a:t> CPU time/hour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Savings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1.9 </a:t>
            </a:r>
            <a:r>
              <a:rPr lang="en-US" b="1" dirty="0" err="1"/>
              <a:t>hrs</a:t>
            </a:r>
            <a:r>
              <a:rPr lang="en-US" b="1" dirty="0"/>
              <a:t> CPU time saved per hour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 24 </a:t>
            </a:r>
            <a:r>
              <a:rPr lang="en-US" dirty="0" err="1"/>
              <a:t>hrs</a:t>
            </a:r>
            <a:r>
              <a:rPr lang="en-US" dirty="0"/>
              <a:t> → </a:t>
            </a:r>
            <a:r>
              <a:rPr lang="en-US" b="1" dirty="0"/>
              <a:t>~45.6 </a:t>
            </a:r>
            <a:r>
              <a:rPr lang="en-US" b="1" dirty="0" err="1"/>
              <a:t>hrs</a:t>
            </a:r>
            <a:r>
              <a:rPr lang="en-US" b="1" dirty="0"/>
              <a:t> CPU time saved per day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Equivalent to </a:t>
            </a:r>
            <a:r>
              <a:rPr lang="en-US" b="1" dirty="0"/>
              <a:t>~60% infra cost reduction</a:t>
            </a:r>
            <a:r>
              <a:rPr lang="en-US" dirty="0"/>
              <a:t> for this endpoint.</a:t>
            </a:r>
          </a:p>
        </p:txBody>
      </p:sp>
    </p:spTree>
    <p:extLst>
      <p:ext uri="{BB962C8B-B14F-4D97-AF65-F5344CB8AC3E}">
        <p14:creationId xmlns:p14="http://schemas.microsoft.com/office/powerpoint/2010/main" val="2489120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71AA7-8D56-5915-DD47-AA73AB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6F977435-5A9E-E6C2-49C6-DF5F34C08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Cost Savings Calculation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E129040-36F7-D8FC-6815-00EF8E9426D2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1A4ACE4-1D79-73DF-DC66-9ABC1B8DC76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95890F3-E87B-855E-55C2-774E504776E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FFBB7-5DAD-FA80-7723-1627E650B963}"/>
              </a:ext>
            </a:extLst>
          </p:cNvPr>
          <p:cNvSpPr txBox="1"/>
          <p:nvPr/>
        </p:nvSpPr>
        <p:spPr>
          <a:xfrm>
            <a:off x="905256" y="2175407"/>
            <a:ext cx="96851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 Display" panose="020B0004020202020204" pitchFamily="34" charset="0"/>
              </a:rPr>
              <a:t>Before Refactor</a:t>
            </a:r>
            <a:r>
              <a:rPr lang="en-US" dirty="0">
                <a:latin typeface="Aptos Display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3.1 </a:t>
            </a:r>
            <a:r>
              <a:rPr lang="en-US" dirty="0" err="1">
                <a:latin typeface="Aptos Display" panose="020B0004020202020204" pitchFamily="34" charset="0"/>
              </a:rPr>
              <a:t>hrs</a:t>
            </a:r>
            <a:r>
              <a:rPr lang="en-US" dirty="0">
                <a:latin typeface="Aptos Display" panose="020B0004020202020204" pitchFamily="34" charset="0"/>
              </a:rPr>
              <a:t> CPU time/hour × $0.045 = </a:t>
            </a:r>
            <a:r>
              <a:rPr lang="en-US" b="1" dirty="0">
                <a:latin typeface="Aptos Display" panose="020B0004020202020204" pitchFamily="34" charset="0"/>
              </a:rPr>
              <a:t>$0.14 per hour</a:t>
            </a:r>
            <a:endParaRPr lang="en-US" dirty="0">
              <a:latin typeface="Aptos Display" panose="020B0004020202020204" pitchFamily="34" charset="0"/>
            </a:endParaRPr>
          </a:p>
          <a:p>
            <a:r>
              <a:rPr lang="en-US" b="1" dirty="0">
                <a:latin typeface="Aptos Display" panose="020B0004020202020204" pitchFamily="34" charset="0"/>
              </a:rPr>
              <a:t>After Refactor</a:t>
            </a:r>
            <a:r>
              <a:rPr lang="en-US" dirty="0">
                <a:latin typeface="Aptos Display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 Display" panose="020B0004020202020204" pitchFamily="34" charset="0"/>
              </a:rPr>
              <a:t>1.2 </a:t>
            </a:r>
            <a:r>
              <a:rPr lang="en-US" dirty="0" err="1">
                <a:latin typeface="Aptos Display" panose="020B0004020202020204" pitchFamily="34" charset="0"/>
              </a:rPr>
              <a:t>hrs</a:t>
            </a:r>
            <a:r>
              <a:rPr lang="en-US" dirty="0">
                <a:latin typeface="Aptos Display" panose="020B0004020202020204" pitchFamily="34" charset="0"/>
              </a:rPr>
              <a:t> CPU time/hour × $0.045 = </a:t>
            </a:r>
            <a:r>
              <a:rPr lang="en-US" b="1" dirty="0">
                <a:latin typeface="Aptos Display" panose="020B0004020202020204" pitchFamily="34" charset="0"/>
              </a:rPr>
              <a:t>$0.05 per hour</a:t>
            </a:r>
            <a:endParaRPr lang="en-US" dirty="0">
              <a:latin typeface="Aptos Display" panose="020B0004020202020204" pitchFamily="34" charset="0"/>
            </a:endParaRPr>
          </a:p>
          <a:p>
            <a:r>
              <a:rPr lang="en-US" b="1" dirty="0">
                <a:latin typeface="Aptos Display" panose="020B0004020202020204" pitchFamily="34" charset="0"/>
              </a:rPr>
              <a:t>Savings per Hour</a:t>
            </a:r>
            <a:r>
              <a:rPr lang="en-US" dirty="0">
                <a:latin typeface="Aptos Display" panose="020B0004020202020204" pitchFamily="34" charset="0"/>
              </a:rPr>
              <a:t>:</a:t>
            </a:r>
          </a:p>
          <a:p>
            <a:r>
              <a:rPr lang="en-US" b="1" dirty="0">
                <a:latin typeface="Aptos Display" panose="020B0004020202020204" pitchFamily="34" charset="0"/>
              </a:rPr>
              <a:t>$0.09 per hour</a:t>
            </a: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FE6C6-AA05-A76E-5AEC-68D75043E86F}"/>
              </a:ext>
            </a:extLst>
          </p:cNvPr>
          <p:cNvSpPr txBox="1"/>
          <p:nvPr/>
        </p:nvSpPr>
        <p:spPr>
          <a:xfrm>
            <a:off x="905256" y="4154833"/>
            <a:ext cx="88819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 Display" panose="020B0004020202020204" pitchFamily="34" charset="0"/>
              </a:rPr>
              <a:t>Per Day</a:t>
            </a:r>
            <a:r>
              <a:rPr lang="en-US" dirty="0">
                <a:latin typeface="Aptos Display" panose="020B0004020202020204" pitchFamily="34" charset="0"/>
              </a:rPr>
              <a:t>: $0.09 × 24 = </a:t>
            </a:r>
            <a:r>
              <a:rPr lang="en-US" b="1" dirty="0">
                <a:latin typeface="Aptos Display" panose="020B0004020202020204" pitchFamily="34" charset="0"/>
              </a:rPr>
              <a:t>$2.16/day</a:t>
            </a:r>
            <a:endParaRPr lang="en-US" dirty="0">
              <a:latin typeface="Aptos Display" panose="020B0004020202020204" pitchFamily="34" charset="0"/>
            </a:endParaRPr>
          </a:p>
          <a:p>
            <a:r>
              <a:rPr lang="en-US" b="1" dirty="0">
                <a:latin typeface="Aptos Display" panose="020B0004020202020204" pitchFamily="34" charset="0"/>
              </a:rPr>
              <a:t>Per Month (30 days)</a:t>
            </a:r>
            <a:r>
              <a:rPr lang="en-US" dirty="0">
                <a:latin typeface="Aptos Display" panose="020B0004020202020204" pitchFamily="34" charset="0"/>
              </a:rPr>
              <a:t>: ≈ </a:t>
            </a:r>
            <a:r>
              <a:rPr lang="en-US" b="1" dirty="0">
                <a:latin typeface="Aptos Display" panose="020B0004020202020204" pitchFamily="34" charset="0"/>
              </a:rPr>
              <a:t>$65/month</a:t>
            </a:r>
            <a:endParaRPr lang="en-US" dirty="0">
              <a:latin typeface="Aptos Display" panose="020B0004020202020204" pitchFamily="34" charset="0"/>
            </a:endParaRPr>
          </a:p>
          <a:p>
            <a:r>
              <a:rPr lang="en-US" b="1" dirty="0">
                <a:latin typeface="Aptos Display" panose="020B0004020202020204" pitchFamily="34" charset="0"/>
              </a:rPr>
              <a:t>Per Year</a:t>
            </a:r>
            <a:r>
              <a:rPr lang="en-US" dirty="0">
                <a:latin typeface="Aptos Display" panose="020B0004020202020204" pitchFamily="34" charset="0"/>
              </a:rPr>
              <a:t>: ≈ </a:t>
            </a:r>
            <a:r>
              <a:rPr lang="en-US" b="1" dirty="0">
                <a:latin typeface="Aptos Display" panose="020B0004020202020204" pitchFamily="34" charset="0"/>
              </a:rPr>
              <a:t>$780/year</a:t>
            </a:r>
            <a:endParaRPr 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84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2E3A-DB80-46C8-A227-EE0F7E87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1731" y="2322576"/>
            <a:ext cx="3721608" cy="110642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C90EA9-2998-4A9C-A666-B38258E20B6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241EFF-1DFD-4B6D-BFDE-8E8B1883344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BB8335-F249-4F37-8C3F-A672116EB87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75288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presentation</Template>
  <TotalTime>55</TotalTime>
  <Words>504</Words>
  <Application>Microsoft Office PowerPoint</Application>
  <PresentationFormat>Widescreen</PresentationFormat>
  <Paragraphs>136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 Display</vt:lpstr>
      <vt:lpstr>Arial</vt:lpstr>
      <vt:lpstr>Avenir Next LT Pro</vt:lpstr>
      <vt:lpstr>Calibri</vt:lpstr>
      <vt:lpstr>Segoe UI</vt:lpstr>
      <vt:lpstr>AccentBoxVTI</vt:lpstr>
      <vt:lpstr>Microservice Refactoring – Performance &amp; Cost Optimization Initiative</vt:lpstr>
      <vt:lpstr>Agenda</vt:lpstr>
      <vt:lpstr>Problem Statement (Before Refactoring)</vt:lpstr>
      <vt:lpstr>Cost Impact (Business View)</vt:lpstr>
      <vt:lpstr>Infrastructure Impact</vt:lpstr>
      <vt:lpstr>Architectural Improvements</vt:lpstr>
      <vt:lpstr>Business Impact</vt:lpstr>
      <vt:lpstr>Long-Term Benefits</vt:lpstr>
      <vt:lpstr>Performance Comparison (Before vs After)</vt:lpstr>
      <vt:lpstr>Cost Savings (On‑Prem Kubernetes)</vt:lpstr>
      <vt:lpstr>Cost Savings Calculation (Balance Endpoint Example)</vt:lpstr>
      <vt:lpstr>Cost Savings Calculation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sharma</dc:creator>
  <cp:lastModifiedBy>rahul sharma</cp:lastModifiedBy>
  <cp:revision>10</cp:revision>
  <dcterms:created xsi:type="dcterms:W3CDTF">2026-02-25T05:05:41Z</dcterms:created>
  <dcterms:modified xsi:type="dcterms:W3CDTF">2026-02-25T06:01:24Z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